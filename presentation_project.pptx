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40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jpe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jpe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jpe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01" y="530061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6668" y="982266"/>
            <a:ext cx="8170664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500" kern="0" spc="2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星绽操作系统
DM-CRYPT/DM-VERITY 设计与实现</a:t>
            </a:r>
            <a:endParaRPr lang="en-US" sz="3500" dirty="0"/>
          </a:p>
        </p:txBody>
      </p:sp>
      <p:sp>
        <p:nvSpPr>
          <p:cNvPr id="5" name="Shape 1"/>
          <p:cNvSpPr/>
          <p:nvPr/>
        </p:nvSpPr>
        <p:spPr>
          <a:xfrm>
            <a:off x="2564606" y="2450306"/>
            <a:ext cx="4014788" cy="4161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2564606" y="2450306"/>
            <a:ext cx="4014788" cy="1428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7" name="Text 3"/>
          <p:cNvSpPr/>
          <p:nvPr/>
        </p:nvSpPr>
        <p:spPr>
          <a:xfrm>
            <a:off x="2564606" y="2450306"/>
            <a:ext cx="4014788" cy="41612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全国操作系统设计赛 —— 功能挑战赛道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3725466" y="3145036"/>
            <a:ext cx="16930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参赛队伍：Go_Go_Go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43375" y="3436144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华南师范大学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736181" y="3686175"/>
            <a:ext cx="16716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成员：张乐桁、陈韵、潘利源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277320" y="3973711"/>
            <a:ext cx="58935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2026年 6月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457200"/>
            <a:ext cx="8515350" cy="49649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目录 / CONTENTS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14363" y="1253728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2"/>
          <p:cNvSpPr/>
          <p:nvPr/>
        </p:nvSpPr>
        <p:spPr>
          <a:xfrm>
            <a:off x="614363" y="1253728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42988" y="1415355"/>
            <a:ext cx="2371725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项目概述：背景、目标与创新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93444" y="1253728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4693444" y="1253728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22069" y="1415355"/>
            <a:ext cx="2714625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系统架构设计：核心抽象与移植性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4363" y="2068116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2068116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2988" y="2229743"/>
            <a:ext cx="2789634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dm-verity：完整性校验设计与实现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93444" y="2068116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93444" y="2068116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2069" y="2229743"/>
            <a:ext cx="2580680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dm-crypt：透明加密设计与实现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4363" y="2882503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4363" y="2882503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42988" y="3044130"/>
            <a:ext cx="2886075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性能优化与测试：策略、基准与验证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93444" y="2882503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7"/>
          <p:cNvSpPr/>
          <p:nvPr/>
        </p:nvSpPr>
        <p:spPr>
          <a:xfrm>
            <a:off x="4693444" y="2882503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22069" y="3044130"/>
            <a:ext cx="2700338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合规与声明：开源、贡献与AI使用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86038" y="3696891"/>
            <a:ext cx="428625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0"/>
          <p:cNvSpPr/>
          <p:nvPr/>
        </p:nvSpPr>
        <p:spPr>
          <a:xfrm>
            <a:off x="2586038" y="3696891"/>
            <a:ext cx="428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B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014663" y="3858518"/>
            <a:ext cx="2714625" cy="24824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总结与展望：成果回顾与未来规划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项目背景 / PROJECT BACKGROUND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13853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100138"/>
            <a:ext cx="162520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星绽OS Framekernel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28663" y="1569839"/>
            <a:ext cx="2823204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TCB 最小化设计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28663" y="1771650"/>
            <a:ext cx="282320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精简内核态代码，降低攻击面。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28663" y="2152055"/>
            <a:ext cx="2823204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Rust 内存安全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28663" y="2353866"/>
            <a:ext cx="282320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利用Rust所有权机制，根除内存安全漏洞。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264" y="2984302"/>
            <a:ext cx="642938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639" y="3197721"/>
            <a:ext cx="78759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4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架构示意图 (占位)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9079" y="981373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51967" y="942975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核心挑战与安全威胁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223379" y="1555552"/>
            <a:ext cx="434912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机密计算场景下的存储风险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4223379" y="1757363"/>
            <a:ext cx="43491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rootfs 存储在不可信介质，易遭受离线篡改、镜像替换及数据窃取。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223379" y="2280642"/>
            <a:ext cx="434912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生态空白与自主可控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4223379" y="2482453"/>
            <a:ext cx="43491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拥有成熟的 dm-crypt/verity，但星绽生态在此领域尚属空白。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109079" y="3305770"/>
            <a:ext cx="4577721" cy="342900"/>
          </a:xfrm>
          <a:prstGeom prst="rect">
            <a:avLst/>
          </a:prstGeom>
          <a:solidFill>
            <a:srgbClr val="007BFF">
              <a:alpha val="20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880" y="3482578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35193" y="3454003"/>
            <a:ext cx="393977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本赛题要求：使用纯 Rust 实现类 dm-crypt 与 dm-verity 功能</a:t>
            </a:r>
            <a:endParaRPr lang="en-US" sz="1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1BA9A13-7A06-A846-91B9-CA0214150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48" y="2709207"/>
            <a:ext cx="2896034" cy="11020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项目目标与创新点 / GOALS &amp; INNOVATIONS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0993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8" y="871538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核心技术指标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734" y="1384102"/>
            <a:ext cx="257175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8644" y="1684139"/>
            <a:ext cx="1707356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 基础功能
</a:t>
            </a: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哈希树 / SHA-256 / 启动校验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141" y="1384102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671763" y="1684139"/>
            <a:ext cx="1707356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 基础功能
</a:t>
            </a: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透明加解密 / cryptsetup 支撑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547" y="1384102"/>
            <a:ext cx="200025" cy="2286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764881" y="1684139"/>
            <a:ext cx="1707356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根文件系统加密
</a:t>
            </a: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全路径保护 / 启动自检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5953" y="1384102"/>
            <a:ext cx="171450" cy="2286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858000" y="1684139"/>
            <a:ext cx="1707356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高性能 I/O
</a:t>
            </a: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性能接近 Linux 原生实现</a:t>
            </a:r>
            <a:endParaRPr lang="en-US" sz="9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722662"/>
            <a:ext cx="128588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57225" y="2684264"/>
            <a:ext cx="364509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创新点：双目标架构 (Dual-Target Architecture)</a:t>
            </a:r>
            <a:endParaRPr lang="en-US" sz="1200" dirty="0"/>
          </a:p>
        </p:txBody>
      </p:sp>
      <p:sp>
        <p:nvSpPr>
          <p:cNvPr id="16" name="Shape 7"/>
          <p:cNvSpPr/>
          <p:nvPr/>
        </p:nvSpPr>
        <p:spPr>
          <a:xfrm>
            <a:off x="457200" y="3039666"/>
            <a:ext cx="8229600" cy="1410891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671513" y="3182541"/>
            <a:ext cx="780097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用户态工具与内核模块共享同一套 Rust 核心代码，实现跨环境无缝移植。</a:t>
            </a:r>
            <a:endParaRPr lang="en-US" sz="950" dirty="0"/>
          </a:p>
        </p:txBody>
      </p:sp>
      <p:sp>
        <p:nvSpPr>
          <p:cNvPr id="18" name="Shape 9"/>
          <p:cNvSpPr/>
          <p:nvPr/>
        </p:nvSpPr>
        <p:spPr>
          <a:xfrm>
            <a:off x="671513" y="3608487"/>
            <a:ext cx="987623" cy="266105"/>
          </a:xfrm>
          <a:prstGeom prst="rect">
            <a:avLst/>
          </a:prstGeom>
          <a:solidFill>
            <a:srgbClr val="001A33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71513" y="3608487"/>
            <a:ext cx="987623" cy="266105"/>
          </a:xfrm>
          <a:prstGeom prst="rect">
            <a:avLst/>
          </a:prstGeom>
          <a:noFill/>
          <a:ln/>
        </p:spPr>
        <p:txBody>
          <a:bodyPr wrap="non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用户态 dmctl</a:t>
            </a:r>
            <a:endParaRPr lang="en-US" sz="8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8251" y="3658493"/>
            <a:ext cx="171450" cy="17145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0120" y="3666530"/>
            <a:ext cx="114300" cy="114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934420" y="3645098"/>
            <a:ext cx="10626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核心逻辑 (dm crate)</a:t>
            </a:r>
            <a:endParaRPr lang="en-US" sz="800" dirty="0"/>
          </a:p>
        </p:txBody>
      </p:sp>
      <p:sp>
        <p:nvSpPr>
          <p:cNvPr id="23" name="Text 12"/>
          <p:cNvSpPr/>
          <p:nvPr/>
        </p:nvSpPr>
        <p:spPr>
          <a:xfrm>
            <a:off x="3717429" y="3814763"/>
            <a:ext cx="138231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统一抽象 / 映射器链 / 密码引擎</a:t>
            </a:r>
            <a:endParaRPr lang="en-US" sz="7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7472" y="3658493"/>
            <a:ext cx="171450" cy="17145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7186613" y="3608487"/>
            <a:ext cx="1285875" cy="266105"/>
          </a:xfrm>
          <a:prstGeom prst="rect">
            <a:avLst/>
          </a:prstGeom>
          <a:solidFill>
            <a:srgbClr val="001A33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7186613" y="3608487"/>
            <a:ext cx="1285875" cy="266105"/>
          </a:xfrm>
          <a:prstGeom prst="rect">
            <a:avLst/>
          </a:prstGeom>
          <a:noFill/>
          <a:ln/>
        </p:spPr>
        <p:txBody>
          <a:bodyPr wrap="non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星绽内核 aster-dm</a:t>
            </a:r>
            <a:endParaRPr lang="en-US" sz="800" dirty="0"/>
          </a:p>
        </p:txBody>
      </p:sp>
      <p:sp>
        <p:nvSpPr>
          <p:cNvPr id="27" name="Text 15"/>
          <p:cNvSpPr/>
          <p:nvPr/>
        </p:nvSpPr>
        <p:spPr>
          <a:xfrm>
            <a:off x="671513" y="4113014"/>
            <a:ext cx="780097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优势：代码复用率高、测试验证快、维护成本低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核心抽象：BlockDevice Trait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57200" y="942975"/>
            <a:ext cx="3782281" cy="3721894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117997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106" y="1085850"/>
            <a:ext cx="66079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Trait 定义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00075" y="1421606"/>
            <a:ext cx="348096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79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 trait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BlockDevice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
    </a:t>
            </a:r>
            <a:r>
              <a:rPr lang="en-US" sz="950" dirty="0">
                <a:solidFill>
                  <a:srgbClr val="FF79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fn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block_size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(&amp;self) -&gt;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usize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
    </a:t>
            </a:r>
            <a:r>
              <a:rPr lang="en-US" sz="950" dirty="0">
                <a:solidFill>
                  <a:srgbClr val="FF79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fn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num_blocks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(&amp;self) -&gt;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usize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
    </a:t>
            </a:r>
            <a:r>
              <a:rPr lang="en-US" sz="950" dirty="0">
                <a:solidFill>
                  <a:srgbClr val="FF79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fn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read_block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
        &amp;self, 
        id: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usize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
        buf: &amp;mut [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u8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
    ) -&gt;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&lt;()&gt;;
    </a:t>
            </a:r>
            <a:r>
              <a:rPr lang="en-US" sz="950" dirty="0">
                <a:solidFill>
                  <a:srgbClr val="FF79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fn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write_block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
        &amp;self, 
        id: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usize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
        buf: &amp;[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u8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
    ) -&gt; </a:t>
            </a:r>
            <a:r>
              <a:rPr lang="en-US" sz="950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</a:t>
            </a:r>
            <a:r>
              <a:rPr lang="en-US" sz="9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&lt;()&gt;;
}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822" y="1159073"/>
            <a:ext cx="2857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95447" y="1064419"/>
            <a:ext cx="25146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MemoryBlockDevice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095447" y="1259086"/>
            <a:ext cx="25146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基于内存的模拟设备，用于单元测试与快速验证。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822" y="1762720"/>
            <a:ext cx="2857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95447" y="1668066"/>
            <a:ext cx="241815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FileBlockDevice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095447" y="1862733"/>
            <a:ext cx="2418159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用户态 dmctl 工具使用，将文件映射为块设备。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822" y="2366367"/>
            <a:ext cx="2857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95447" y="2271713"/>
            <a:ext cx="20574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PassthroughDevice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095447" y="2466380"/>
            <a:ext cx="20574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直通映射器，用于调试与性能基准对比。</a:t>
            </a:r>
            <a:endParaRPr lang="en-US" sz="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6822" y="2970014"/>
            <a:ext cx="2857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95447" y="2875359"/>
            <a:ext cx="230921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VirtioBlkAdapter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095447" y="3070027"/>
            <a:ext cx="2309217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星绽内核集成，适配底层 VirtIO 块设备驱动。</a:t>
            </a:r>
            <a:endParaRPr lang="en-US" sz="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3552" y="4166592"/>
            <a:ext cx="196453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90006" y="4136231"/>
            <a:ext cx="321290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统一抽象 + 可组合映射器链 = 跨环境无缝运行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跨环境可移植性设计 / PORTABILITY DESIGN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380" y="1216223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1834" y="1185863"/>
            <a:ext cx="145911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用户态 (User-space)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901536" y="1543050"/>
            <a:ext cx="3083226" cy="260747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01536" y="1543050"/>
            <a:ext cx="3083226" cy="26074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dmctl (CLI Tool)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901536" y="1860947"/>
            <a:ext cx="3083226" cy="260747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01536" y="1860947"/>
            <a:ext cx="3083226" cy="26074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FileBlockDevice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75810" y="2250281"/>
            <a:ext cx="3534705" cy="478631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97254" y="2357438"/>
            <a:ext cx="329181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共享核心逻辑 (dm crate)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97254" y="2564606"/>
            <a:ext cx="329181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DmCryptDevice / DmVerityDevice</a:t>
            </a:r>
            <a:endParaRPr lang="en-US" sz="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514" y="1216223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4677" y="1185863"/>
            <a:ext cx="158948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内核态 (Kernel-space)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159211" y="1543050"/>
            <a:ext cx="3083226" cy="260747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159211" y="1543050"/>
            <a:ext cx="3083226" cy="26074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 Parameters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159211" y="1860947"/>
            <a:ext cx="3083226" cy="260747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159211" y="1860947"/>
            <a:ext cx="3083226" cy="26074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VirtioBlkAdapter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33485" y="2250281"/>
            <a:ext cx="3534705" cy="478631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5054929" y="2357438"/>
            <a:ext cx="329181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共享核心逻辑 (dm crate)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54929" y="2564606"/>
            <a:ext cx="329181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DmCryptDevice / DmVerityDevice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571500" y="3114675"/>
            <a:ext cx="241933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No-Std 兼容性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71500" y="3352205"/>
            <a:ext cx="241933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核心代码严格遵循 no-std 规范，确保在裸机内核环境无缝运行。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3362306" y="3114675"/>
            <a:ext cx="2419359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环境特定代码隔离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362306" y="3352205"/>
            <a:ext cx="241935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 Trait 抽象隔离底层 I/O，环境差异仅存在于外层适配器。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153141" y="3114675"/>
            <a:ext cx="241933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先行验证与无缝移植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153141" y="3352205"/>
            <a:ext cx="241933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在用户态完成 100% 逻辑验证后，直接引入内核，极大降低调试难度。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dm-verity 设计架构 / DESIGN ARCHITECTURE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291" y="1100138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363" y="1457325"/>
            <a:ext cx="23336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DmVerityDevice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4363" y="1743075"/>
            <a:ext cx="233363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顶层拦截读请求，执行实时哈希校验与强制访问控制。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66" y="1100138"/>
            <a:ext cx="321469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5197" y="1457325"/>
            <a:ext cx="23336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HashTree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405197" y="1743075"/>
            <a:ext cx="233363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构建默克尔（Merkle）树结构，支持高效的单块完整性验证。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959" y="1100138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6031" y="1457325"/>
            <a:ext cx="23336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sha256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196031" y="1743075"/>
            <a:ext cx="233363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高性能纯 Rust 实现，确保在 No-Std 环境下的计算一致性。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614363" y="2461022"/>
            <a:ext cx="791527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构建流程 / CONSTRUCTION FLOW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614363" y="2734270"/>
            <a:ext cx="191184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14363" y="2978944"/>
            <a:ext cx="1911846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叶子层哈希计算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209" y="2868216"/>
            <a:ext cx="89297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15505" y="2734270"/>
            <a:ext cx="191184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2615505" y="2978944"/>
            <a:ext cx="1911846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中间层节点合并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7352" y="2868216"/>
            <a:ext cx="89297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16648" y="2734270"/>
            <a:ext cx="191184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16648" y="2978944"/>
            <a:ext cx="1911846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奇数节点填充</a:t>
            </a:r>
            <a:endParaRPr lang="en-US" sz="8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495" y="2868216"/>
            <a:ext cx="89297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17791" y="2734270"/>
            <a:ext cx="191184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6617791" y="2978944"/>
            <a:ext cx="1911846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根哈希（Root）生成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457200" y="3516511"/>
            <a:ext cx="8229600" cy="826889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3691533"/>
            <a:ext cx="160734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32247" y="3659386"/>
            <a:ext cx="15716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核心亮点：启动自检机制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600075" y="3937992"/>
            <a:ext cx="7943850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系统启动时，通过读取 ext2 超级块魔数 </a:t>
            </a: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0x53EF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验证解密路径。若校验失败或魔数不匹配，系统将立即触发 </a:t>
            </a: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panic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，防止受损镜像启动。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dm-verity 校验路径与参数 / VERIFICATION &amp; PARAMS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0993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8" y="871538"/>
            <a:ext cx="306824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单块校验路径 (Single Block Verification)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167" y="1533227"/>
            <a:ext cx="150019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4363" y="1804690"/>
            <a:ext cx="1511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数据检索
Data Retrieval</a:t>
            </a:r>
            <a:endParaRPr lang="en-US" sz="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991" y="1743968"/>
            <a:ext cx="89297" cy="14287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4662" y="1533227"/>
            <a:ext cx="192881" cy="1714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215288" y="1804690"/>
            <a:ext cx="1511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路径节点检索
Path Retrieval</a:t>
            </a:r>
            <a:endParaRPr lang="en-US" sz="8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6917" y="1743968"/>
            <a:ext cx="89297" cy="142875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7019" y="1533227"/>
            <a:ext cx="150019" cy="17145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3816214" y="1804690"/>
            <a:ext cx="1511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兄弟节点比对
Sibling Compare</a:t>
            </a:r>
            <a:endParaRPr lang="en-US" sz="8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842" y="1743968"/>
            <a:ext cx="89297" cy="14287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6513" y="1533227"/>
            <a:ext cx="192881" cy="17145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417139" y="1804690"/>
            <a:ext cx="1511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根锚点校验
Root Validation</a:t>
            </a:r>
            <a:endParaRPr lang="en-US" sz="8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8768" y="1743968"/>
            <a:ext cx="89297" cy="142875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8154" y="1533227"/>
            <a:ext cx="171450" cy="17145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7018065" y="1804690"/>
            <a:ext cx="1511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强制执行
Enforcement</a:t>
            </a:r>
            <a:endParaRPr lang="en-US" sz="8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781" y="2434233"/>
            <a:ext cx="100013" cy="100013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35794" y="2414588"/>
            <a:ext cx="274677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4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校验失败立即返回 IntegrityViolation，阻止非法数据进入内存</a:t>
            </a:r>
            <a:endParaRPr lang="en-US" sz="700" dirty="0"/>
          </a:p>
        </p:txBody>
      </p:sp>
      <p:sp>
        <p:nvSpPr>
          <p:cNvPr id="22" name="Shape 8"/>
          <p:cNvSpPr/>
          <p:nvPr/>
        </p:nvSpPr>
        <p:spPr>
          <a:xfrm>
            <a:off x="457200" y="2771775"/>
            <a:ext cx="3971925" cy="1431541"/>
          </a:xfrm>
          <a:prstGeom prst="rect">
            <a:avLst/>
          </a:prstGeom>
          <a:solidFill>
            <a:srgbClr val="001A33"/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5" y="2953048"/>
            <a:ext cx="192881" cy="17145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64394" y="2914650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启动参数配置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00075" y="3270052"/>
            <a:ext cx="36718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rootfs_verity.scheme=dm-verity
rootfs_verity.hash=64-char-hex-root-hash...
rootfs_verity.error_behavior=panic</a:t>
            </a:r>
            <a:endParaRPr lang="en-US" sz="950" dirty="0"/>
          </a:p>
        </p:txBody>
      </p:sp>
      <p:sp>
        <p:nvSpPr>
          <p:cNvPr id="26" name="Text 11"/>
          <p:cNvSpPr/>
          <p:nvPr/>
        </p:nvSpPr>
        <p:spPr>
          <a:xfrm>
            <a:off x="600075" y="4030080"/>
            <a:ext cx="367188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通过 QEMU -append 或 GRUB 传递给星绽内核</a:t>
            </a:r>
            <a:endParaRPr lang="en-US" sz="75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7900" y="2977660"/>
            <a:ext cx="171450" cy="17145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6300788" y="2939262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启动自检流程</a:t>
            </a:r>
            <a:endParaRPr lang="en-US" sz="120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0819" y="3294664"/>
            <a:ext cx="285750" cy="28575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5906988" y="3662567"/>
            <a:ext cx="157341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读取 ext2 超级块魔数 (0x53EF)</a:t>
            </a:r>
            <a:endParaRPr lang="en-US" sz="850" dirty="0"/>
          </a:p>
        </p:txBody>
      </p:sp>
      <p:sp>
        <p:nvSpPr>
          <p:cNvPr id="31" name="Text 14"/>
          <p:cNvSpPr/>
          <p:nvPr/>
        </p:nvSpPr>
        <p:spPr>
          <a:xfrm>
            <a:off x="6044505" y="3828659"/>
            <a:ext cx="12983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验证解密/校验路径正确性</a:t>
            </a:r>
            <a:endParaRPr lang="en-US" sz="850" dirty="0"/>
          </a:p>
        </p:txBody>
      </p:sp>
      <p:sp>
        <p:nvSpPr>
          <p:cNvPr id="32" name="Text 15"/>
          <p:cNvSpPr/>
          <p:nvPr/>
        </p:nvSpPr>
        <p:spPr>
          <a:xfrm>
            <a:off x="6062365" y="3994752"/>
            <a:ext cx="1262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失败则触发 Kernel Panic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dm-crypt 设计架构 / DESIGN ARCHITECTURE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78694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942975"/>
            <a:ext cx="7858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加密数据流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57200" y="1350169"/>
            <a:ext cx="3578377" cy="280392"/>
          </a:xfrm>
          <a:prstGeom prst="rect">
            <a:avLst/>
          </a:prstGeom>
          <a:solidFill>
            <a:srgbClr val="007BFF">
              <a:alpha val="10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350169"/>
            <a:ext cx="3578377" cy="280392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应用层请求 (Application)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154" y="1734145"/>
            <a:ext cx="96441" cy="1285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57200" y="1991320"/>
            <a:ext cx="3578377" cy="280392"/>
          </a:xfrm>
          <a:prstGeom prst="rect">
            <a:avLst/>
          </a:prstGeom>
          <a:solidFill>
            <a:srgbClr val="007BFF">
              <a:alpha val="10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1991320"/>
            <a:ext cx="3578377" cy="280392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DmCryptDevice (拦截器)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8154" y="2375297"/>
            <a:ext cx="96441" cy="12858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" y="2632472"/>
            <a:ext cx="3578377" cy="280392"/>
          </a:xfrm>
          <a:prstGeom prst="rect">
            <a:avLst/>
          </a:prstGeom>
          <a:solidFill>
            <a:srgbClr val="007B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57200" y="2632472"/>
            <a:ext cx="3578377" cy="280392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Aes256XtsCipher (密码引擎)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8154" y="3016448"/>
            <a:ext cx="96441" cy="12858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57200" y="3273623"/>
            <a:ext cx="3578377" cy="280392"/>
          </a:xfrm>
          <a:prstGeom prst="rect">
            <a:avLst/>
          </a:prstGeom>
          <a:solidFill>
            <a:srgbClr val="007BFF">
              <a:alpha val="10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57200" y="3273623"/>
            <a:ext cx="3578377" cy="280392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底层 BlockDevice (Trait 抽象)</a:t>
            </a:r>
            <a:endParaRPr lang="en-US" sz="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8154" y="3657600"/>
            <a:ext cx="96441" cy="12858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57200" y="3914775"/>
            <a:ext cx="3578377" cy="280392"/>
          </a:xfrm>
          <a:prstGeom prst="rect">
            <a:avLst/>
          </a:prstGeom>
          <a:solidFill>
            <a:srgbClr val="007BFF">
              <a:alpha val="10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457200" y="3914775"/>
            <a:ext cx="3578377" cy="280392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密文存储 (Storage)</a:t>
            </a:r>
            <a:endParaRPr lang="en-US" sz="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2764" y="978694"/>
            <a:ext cx="196453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660655" y="942975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核心密码引擎参数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399908" y="1428750"/>
            <a:ext cx="1507164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399908" y="1428750"/>
            <a:ext cx="1507164" cy="26789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参数项</a:t>
            </a:r>
            <a:endParaRPr lang="en-US" sz="800" dirty="0"/>
          </a:p>
        </p:txBody>
      </p:sp>
      <p:sp>
        <p:nvSpPr>
          <p:cNvPr id="24" name="Shape 15"/>
          <p:cNvSpPr/>
          <p:nvPr/>
        </p:nvSpPr>
        <p:spPr>
          <a:xfrm>
            <a:off x="5907072" y="1428750"/>
            <a:ext cx="2772584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5907072" y="1428750"/>
            <a:ext cx="2772584" cy="26789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具体配置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4399908" y="1696641"/>
            <a:ext cx="150716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加密算法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5907072" y="1696641"/>
            <a:ext cx="277258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AES-256-XTS 模式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4399908" y="1962745"/>
            <a:ext cx="150716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密钥长度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5907072" y="1962745"/>
            <a:ext cx="277258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 字节 (32 数据 + 32 IV)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4399908" y="2228850"/>
            <a:ext cx="150716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扇区大小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5907072" y="2228850"/>
            <a:ext cx="277258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512 字节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4399908" y="2494955"/>
            <a:ext cx="1507164" cy="269677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 生成算法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5907072" y="2494955"/>
            <a:ext cx="2772584" cy="269677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plain64</a:t>
            </a:r>
            <a:endParaRPr lang="en-US" sz="8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2764" y="2986088"/>
            <a:ext cx="157163" cy="15716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621364" y="2950369"/>
            <a:ext cx="12233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兼容性验证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4392764" y="3429000"/>
            <a:ext cx="4294036" cy="1114425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5639" y="3565624"/>
            <a:ext cx="112514" cy="128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719591" y="3536156"/>
            <a:ext cx="11662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密码算法 100% 兼容</a:t>
            </a:r>
            <a:endParaRPr lang="en-US" sz="9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5639" y="3810298"/>
            <a:ext cx="112514" cy="12858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4719591" y="3780830"/>
            <a:ext cx="117514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 生成逻辑完全一致</a:t>
            </a:r>
            <a:endParaRPr lang="en-US" sz="9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5639" y="4054971"/>
            <a:ext cx="112514" cy="12858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4719591" y="4025503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磁盘布局逐字节对应</a:t>
            </a:r>
            <a:endParaRPr lang="en-US" sz="95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5639" y="4299645"/>
            <a:ext cx="112514" cy="12858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719591" y="4270177"/>
            <a:ext cx="160555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 cryptsetup 表格式解析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根文件系统加密方案 / ROOTFS ENCRYPTION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07256"/>
            <a:ext cx="137517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6155" y="871538"/>
            <a:ext cx="2187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六阶段启动流程 (Boot Process)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57200" y="1207294"/>
            <a:ext cx="1297177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2222" y="1506438"/>
            <a:ext cx="5232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QEMU 传递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155502" y="1506438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启动参数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573" y="1474291"/>
            <a:ext cx="89297" cy="14287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819870" y="1207294"/>
            <a:ext cx="1301948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921669" y="1506438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内核解析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2321719" y="1510903"/>
            <a:ext cx="6840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DmBootConfig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2787" y="1474291"/>
            <a:ext cx="89297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92084" y="1207294"/>
            <a:ext cx="1306720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332225" y="1510903"/>
            <a:ext cx="421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aster-dm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3753706" y="1506438"/>
            <a:ext cx="6000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初始化映射链</a:t>
            </a:r>
            <a:endParaRPr lang="en-US" sz="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4461" y="1474291"/>
            <a:ext cx="89297" cy="14287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573758" y="1207294"/>
            <a:ext cx="1311464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768565" y="1506438"/>
            <a:ext cx="4268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自检 ext2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5195404" y="1506438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超级块魔数</a:t>
            </a:r>
            <a:endParaRPr lang="en-US" sz="7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013" y="1474291"/>
            <a:ext cx="89297" cy="14287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966371" y="1207294"/>
            <a:ext cx="1314450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072188" y="1510903"/>
            <a:ext cx="4179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initramfs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6490097" y="1506438"/>
            <a:ext cx="70187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执行 pivot_root</a:t>
            </a:r>
            <a:endParaRPr lang="en-US" sz="7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923" y="1474291"/>
            <a:ext cx="89297" cy="14287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372127" y="1207294"/>
            <a:ext cx="1314450" cy="67151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7643757" y="1492151"/>
            <a:ext cx="3000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系统从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7943794" y="1492151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加密卷启动</a:t>
            </a:r>
            <a:endParaRPr lang="en-US" sz="700" dirty="0"/>
          </a:p>
        </p:txBody>
      </p:sp>
      <p:sp>
        <p:nvSpPr>
          <p:cNvPr id="29" name="Text 20"/>
          <p:cNvSpPr/>
          <p:nvPr/>
        </p:nvSpPr>
        <p:spPr>
          <a:xfrm>
            <a:off x="614363" y="2293144"/>
            <a:ext cx="286319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映射器堆叠架构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614363" y="2566392"/>
            <a:ext cx="2863193" cy="226814"/>
          </a:xfrm>
          <a:prstGeom prst="rect">
            <a:avLst/>
          </a:prstGeom>
          <a:solidFill>
            <a:srgbClr val="FFFFFF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14363" y="2566392"/>
            <a:ext cx="2863193" cy="22681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B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Ext2 File System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614363" y="2814638"/>
            <a:ext cx="2863193" cy="226814"/>
          </a:xfrm>
          <a:prstGeom prst="rect">
            <a:avLst/>
          </a:prstGeom>
          <a:solidFill>
            <a:srgbClr val="007BFF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14363" y="2814638"/>
            <a:ext cx="2863193" cy="22681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 (Integrity)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614363" y="3062883"/>
            <a:ext cx="2863193" cy="226814"/>
          </a:xfrm>
          <a:prstGeom prst="rect">
            <a:avLst/>
          </a:prstGeom>
          <a:solidFill>
            <a:srgbClr val="00E5FF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14363" y="3062883"/>
            <a:ext cx="2863193" cy="22681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B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 (Confidentiality)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614363" y="3311128"/>
            <a:ext cx="2863193" cy="226814"/>
          </a:xfrm>
          <a:prstGeom prst="rect">
            <a:avLst/>
          </a:prstGeom>
          <a:solidFill>
            <a:srgbClr val="333333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14363" y="3311128"/>
            <a:ext cx="2863193" cy="22681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Block Device (VirtIO)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3920468" y="2135981"/>
            <a:ext cx="476630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五阶段渐进式部署策略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034768" y="2509242"/>
            <a:ext cx="1518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293729" y="2512814"/>
            <a:ext cx="1350169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Plain: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原始块设备直接挂载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4034768" y="2839641"/>
            <a:ext cx="1803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4322304" y="2843213"/>
            <a:ext cx="2166342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Passthrough: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引入 Device Mapper 抽象层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4034768" y="3170039"/>
            <a:ext cx="1785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320518" y="3173611"/>
            <a:ext cx="216812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dm-verity: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开启只读根文件系统完整性校验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034768" y="3500438"/>
            <a:ext cx="1946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336591" y="3504009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dm-crypt: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开启全盘透明加解密保护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4034768" y="3830836"/>
            <a:ext cx="1821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4324090" y="3834408"/>
            <a:ext cx="175200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Combined: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完整安全路径集成验证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28575" y="4620220"/>
            <a:ext cx="9086850" cy="2803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0" name="Shape 41"/>
          <p:cNvSpPr/>
          <p:nvPr/>
        </p:nvSpPr>
        <p:spPr>
          <a:xfrm>
            <a:off x="28575" y="4620220"/>
            <a:ext cx="9086850" cy="7144"/>
          </a:xfrm>
          <a:prstGeom prst="rect">
            <a:avLst/>
          </a:prstGeom>
          <a:solidFill>
            <a:srgbClr val="CCFAFF"/>
          </a:solidFill>
          <a:ln/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0920" y="4766667"/>
            <a:ext cx="114300" cy="11430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3185220" y="4745236"/>
            <a:ext cx="288786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核心目标：确保系统从启动的第一刻起即处于受保护状态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性能优化策略 / PERFORMANCE OPTIMIZATION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57200" y="942975"/>
            <a:ext cx="4007644" cy="1515368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1135856"/>
            <a:ext cx="150019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1121569"/>
            <a:ext cx="1698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哈希块缓存 (LRU Cache)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5794" y="1457325"/>
            <a:ext cx="36504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引入高效的 LRU 缓存机制，缓存已校验的哈希节点。实测在高频访问场景下，</a:t>
            </a:r>
            <a:r>
              <a:rPr lang="en-US" sz="9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校验开销降低约 30%</a:t>
            </a: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679156" y="942975"/>
            <a:ext cx="4007644" cy="1515368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35856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64931" y="1121569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零拷贝 I/O (Zero-copy)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857750" y="1457325"/>
            <a:ext cx="36504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通过直接操作 DMA 缓冲区，消除内核态与用户态之间不必要的数据拷贝，显著提升大块数据的吞吐性能。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57200" y="2672655"/>
            <a:ext cx="4007644" cy="1515368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4" y="2865537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975" y="2851249"/>
            <a:ext cx="11001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临时缓冲区重用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35794" y="3187005"/>
            <a:ext cx="36504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预分配并重用加密/校验所需的临时缓冲区，避免频繁的 </a:t>
            </a:r>
            <a:r>
              <a:rPr lang="en-US" sz="9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 分配与释放</a:t>
            </a: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带来的内存碎片及性能抖动。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79156" y="2672655"/>
            <a:ext cx="4007644" cy="1515368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865537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64931" y="2851249"/>
            <a:ext cx="1248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硬件加速 (AES-NI)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857750" y="3187005"/>
            <a:ext cx="36504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集成 x86_64 AES-NI 指令集，利用 CPU 硬件电路加速 AES-XTS 运算，突破纯软件实现的性能瓶颈。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57200" y="4402336"/>
            <a:ext cx="8229600" cy="426839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887" y="4632722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465487" y="4602361"/>
            <a:ext cx="37933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实测数据：启用 AES-NI 硬件加速后，加密吞吐量提升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258818" y="4555927"/>
            <a:ext cx="64829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5 - 8 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微基准测试结果 / MICRO-BENCHMARK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57200" y="942975"/>
            <a:ext cx="5219012" cy="362545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0075" y="1085850"/>
            <a:ext cx="4923076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吞吐量对比 (Throughput Comparison - MB/s)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394817"/>
            <a:ext cx="4904184" cy="2857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4395192"/>
            <a:ext cx="492307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测试基于 MemoryBlockDevice，排除磁盘 I/O 瓶颈，聚焦计算开销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5955348" y="946547"/>
            <a:ext cx="2727880" cy="26610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7B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55348" y="946547"/>
            <a:ext cx="2727880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测试环境配置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955348" y="1212652"/>
            <a:ext cx="932176" cy="266105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底层设备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887524" y="1212652"/>
            <a:ext cx="179570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MemoryBlockDevice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955348" y="1478756"/>
            <a:ext cx="932176" cy="266105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访问模式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887524" y="1478756"/>
            <a:ext cx="179570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顺序读 / 顺序写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955348" y="1744861"/>
            <a:ext cx="932176" cy="266105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块大小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887524" y="1744861"/>
            <a:ext cx="179570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4096 Bytes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955348" y="2010966"/>
            <a:ext cx="932176" cy="266105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迭代次数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887524" y="2010966"/>
            <a:ext cx="1795704" cy="266105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次 (取中位数)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951776" y="2423517"/>
            <a:ext cx="2735024" cy="1594842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8932" y="2568178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87520" y="2543175"/>
            <a:ext cx="5482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结果分析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058932" y="2789634"/>
            <a:ext cx="2520711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代表内存带宽上限。
2.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引入 AES-256-XTS 计算开销，吞吐量约下降 15-20%。
3.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由于默克尔树层级哈希校验，开销略高于加密。
4. 硬件加速（AES-NI）对提升加密性能至关重要。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功能正确性验证 / FUNCTIONAL VERIFICATION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8638" y="871538"/>
            <a:ext cx="1364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dm-verity 篡改检测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07294"/>
            <a:ext cx="3971925" cy="834033"/>
          </a:xfrm>
          <a:prstGeom prst="rect">
            <a:avLst/>
          </a:prstGeom>
          <a:solidFill>
            <a:srgbClr val="007BFF">
              <a:alpha val="5000"/>
            </a:srgbClr>
          </a:solidFill>
          <a:ln w="9144">
            <a:solidFill>
              <a:srgbClr val="007B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4356" y="1319808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7953" y="1314450"/>
            <a:ext cx="159662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挂载 dm-verity 保护的只读镜像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64356" y="1557338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7953" y="1551980"/>
            <a:ext cx="203954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 dmctl tamper 修改底层单字节数据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4356" y="1794867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67953" y="1789509"/>
            <a:ext cx="1714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再次读取该块，触发哈希校验失败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169914"/>
            <a:ext cx="4000500" cy="2028825"/>
          </a:xfrm>
          <a:prstGeom prst="rect">
            <a:avLst/>
          </a:prstGeom>
          <a:solidFill>
            <a:srgbClr val="001A33"/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169914"/>
            <a:ext cx="4043363" cy="1785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1"/>
          <p:cNvSpPr/>
          <p:nvPr/>
        </p:nvSpPr>
        <p:spPr>
          <a:xfrm>
            <a:off x="842963" y="2900363"/>
            <a:ext cx="3200400" cy="461665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$ dmctl mount verity ...
$ dd if=/dev/zero of=disk bs=1 seek=4096 count=1
</a:t>
            </a:r>
            <a:r>
              <a:rPr lang="en-US" sz="750" dirty="0">
                <a:solidFill>
                  <a:srgbClr val="FF4D4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Error: IntegrityViolation at block 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4277320"/>
            <a:ext cx="2053828" cy="230386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4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篡改立即检测 (TAMPER DETECTED)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907256"/>
            <a:ext cx="137517" cy="15716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23830" y="871538"/>
            <a:ext cx="13305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dm-crypt 加密往返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14875" y="1207294"/>
            <a:ext cx="3971925" cy="834033"/>
          </a:xfrm>
          <a:prstGeom prst="rect">
            <a:avLst/>
          </a:prstGeom>
          <a:solidFill>
            <a:srgbClr val="007BFF">
              <a:alpha val="5000"/>
            </a:srgbClr>
          </a:solidFill>
          <a:ln w="9144">
            <a:solidFill>
              <a:srgbClr val="007B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2031" y="1319808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025628" y="1314450"/>
            <a:ext cx="13716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写入明文数据到加密映射卷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22031" y="1557338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5628" y="1551980"/>
            <a:ext cx="179665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hexdump 底层设备确认数据已加密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22031" y="1794867"/>
            <a:ext cx="132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25628" y="1789509"/>
            <a:ext cx="1714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使用正确密钥读取，验证数据恢复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714875" y="2169914"/>
            <a:ext cx="4000500" cy="2028825"/>
          </a:xfrm>
          <a:prstGeom prst="rect">
            <a:avLst/>
          </a:prstGeom>
          <a:solidFill>
            <a:srgbClr val="001A33"/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14875" y="2169914"/>
            <a:ext cx="4043363" cy="1785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5404247" y="2900363"/>
            <a:ext cx="2593181" cy="461665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00000000: 5a 5a 5a 5a ... (Plaintext)
00000000: f3 a1 2c 8e ... (Ciphertext)
</a:t>
            </a:r>
            <a:r>
              <a:rPr lang="en-US" sz="750" dirty="0">
                <a:solidFill>
                  <a:srgbClr val="00FF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Verification: Bytes Match!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714875" y="4277320"/>
            <a:ext cx="1980605" cy="230386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FF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验证通过 (VERIFICATION PASSED)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Linux 交叉验证：逐字节兼容 / CROSS VALIDATION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57200" y="871538"/>
            <a:ext cx="1814513" cy="626864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4356" y="978694"/>
            <a:ext cx="15716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环境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64356" y="1180505"/>
            <a:ext cx="15716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dmsetup 创建 aes-xts-plain64 映射器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091" y="1087636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76494" y="929580"/>
            <a:ext cx="1814513" cy="48220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693194" y="1051024"/>
            <a:ext cx="15716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数据写入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693194" y="1252835"/>
            <a:ext cx="157162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向映射卷写入 0x5A 循环模式数据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087636"/>
            <a:ext cx="171450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14875" y="929580"/>
            <a:ext cx="1814513" cy="48220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41007" y="1051024"/>
            <a:ext cx="15716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Rust 环境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841007" y="1252835"/>
            <a:ext cx="157162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dmctl 使用相同参数解析加密表</a:t>
            </a:r>
            <a:endParaRPr lang="en-US" sz="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257" y="1087636"/>
            <a:ext cx="171450" cy="1714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72176" y="929580"/>
            <a:ext cx="1814513" cy="482203"/>
          </a:xfrm>
          <a:prstGeom prst="rect">
            <a:avLst/>
          </a:prstGeom>
          <a:solidFill>
            <a:srgbClr val="007BFF">
              <a:alpha val="5000"/>
            </a:srgbClr>
          </a:solidFill>
          <a:ln w="18288">
            <a:solidFill>
              <a:srgbClr val="007BF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007963" y="1051024"/>
            <a:ext cx="15716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逐字节比对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7007963" y="1252835"/>
            <a:ext cx="157162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 cmp 工具比对底层密文文件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60772" y="1687711"/>
            <a:ext cx="1438042" cy="251817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60772" y="1687711"/>
            <a:ext cx="1438042" cy="251817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关键参数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1898814" y="1687711"/>
            <a:ext cx="2516023" cy="251817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898814" y="1687711"/>
            <a:ext cx="2516023" cy="251817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验证配置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60772" y="1939528"/>
            <a:ext cx="1438042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密码算法 (Cipher)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898814" y="1939528"/>
            <a:ext cx="2516023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aes-xts-plain64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460772" y="2277963"/>
            <a:ext cx="1438042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密钥长度 (Key)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898814" y="2277963"/>
            <a:ext cx="2516023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512-bit (256-bit data + 256-bit IV)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60772" y="2616398"/>
            <a:ext cx="1438042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 生成算法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898814" y="2616398"/>
            <a:ext cx="2516023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plain64 (基于扇区编号)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460772" y="2954834"/>
            <a:ext cx="1438042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扇区大小 (Sector)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898814" y="2954834"/>
            <a:ext cx="2516023" cy="338435"/>
          </a:xfrm>
          <a:prstGeom prst="rect">
            <a:avLst/>
          </a:prstGeom>
          <a:noFill/>
          <a:ln/>
        </p:spPr>
        <p:txBody>
          <a:bodyPr wrap="square" lIns="127508" tIns="85090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512 Bytes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704159" y="1684139"/>
            <a:ext cx="3982641" cy="1612702"/>
          </a:xfrm>
          <a:prstGeom prst="rect">
            <a:avLst/>
          </a:prstGeom>
          <a:solidFill>
            <a:srgbClr val="00FF00">
              <a:alpha val="5000"/>
            </a:srgbClr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 rot="-300000">
            <a:off x="5967710" y="1827014"/>
            <a:ext cx="1469827" cy="407194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VERIFIED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5394424" y="2377083"/>
            <a:ext cx="2616398" cy="748308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验证通过！
Rust 实现与 Linux 内核 dm-crypt
</a:t>
            </a:r>
            <a:r>
              <a:rPr lang="en-US" sz="1400" b="1" dirty="0">
                <a:solidFill>
                  <a:srgbClr val="00FF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逐字节完全相同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29025"/>
            <a:ext cx="114300" cy="1143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42938" y="3607594"/>
            <a:ext cx="573285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结论：本项目实现的 dm-crypt 逻辑在磁盘布局、填充算法及密码学实现上与 Linux 工业级标准达成 100% 兼容。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5038130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合规与 AI 声明 / COMPLIANCE &amp; AI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095" y="483096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77683" y="458093"/>
            <a:ext cx="138767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赛事红线 —— 完整披露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57200" y="942975"/>
            <a:ext cx="2647959" cy="3391495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1157288"/>
            <a:ext cx="19645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7966" y="1121569"/>
            <a:ext cx="628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开源协议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500188"/>
            <a:ext cx="100013" cy="32001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1525" y="1500188"/>
            <a:ext cx="145553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代码协议：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采用 Apache-2.0 开源协议。</a:t>
            </a:r>
            <a:endParaRPr lang="en-US" sz="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1927361"/>
            <a:ext cx="100013" cy="32001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1525" y="1927361"/>
            <a:ext cx="13144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文档协议：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采用 CC-BY-SA 4.0 协议。</a:t>
            </a:r>
            <a:endParaRPr lang="en-US" sz="8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354535"/>
            <a:ext cx="100013" cy="48002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1525" y="2354535"/>
            <a:ext cx="21717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借鉴说明：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设计思路借鉴 Linux Device Mapper 架构。</a:t>
            </a:r>
            <a:endParaRPr lang="en-US" sz="800" dirty="0"/>
          </a:p>
        </p:txBody>
      </p:sp>
      <p:sp>
        <p:nvSpPr>
          <p:cNvPr id="15" name="Shape 7"/>
          <p:cNvSpPr/>
          <p:nvPr/>
        </p:nvSpPr>
        <p:spPr>
          <a:xfrm>
            <a:off x="3228975" y="942975"/>
            <a:ext cx="2657475" cy="3391495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66" y="1157288"/>
            <a:ext cx="137517" cy="15716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590320" y="1121569"/>
            <a:ext cx="7858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借鉴与增量</a:t>
            </a:r>
            <a:endParaRPr lang="en-US" sz="1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1366" y="1500188"/>
            <a:ext cx="89297" cy="48002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542100" y="1500188"/>
            <a:ext cx="21919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统一抽象：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定义 BlockDevice Trait，实现跨环境代码共享。</a:t>
            </a:r>
            <a:endParaRPr lang="en-US" sz="8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1366" y="2087370"/>
            <a:ext cx="89297" cy="32001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542100" y="2087370"/>
            <a:ext cx="214491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内核集成：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完成星绽内核 aster-dm 模块的完整集成。</a:t>
            </a:r>
            <a:endParaRPr lang="en-US" sz="8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1366" y="2514544"/>
            <a:ext cx="89297" cy="32001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542100" y="2514544"/>
            <a:ext cx="20574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安全路径：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实现五阶段渐进式根文件系统保护路径。</a:t>
            </a:r>
            <a:endParaRPr lang="en-US" sz="800" dirty="0"/>
          </a:p>
        </p:txBody>
      </p:sp>
      <p:sp>
        <p:nvSpPr>
          <p:cNvPr id="24" name="Shape 12"/>
          <p:cNvSpPr/>
          <p:nvPr/>
        </p:nvSpPr>
        <p:spPr>
          <a:xfrm>
            <a:off x="6019781" y="942975"/>
            <a:ext cx="2666991" cy="3391495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1744" y="1157288"/>
            <a:ext cx="196453" cy="15716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449634" y="1121569"/>
            <a:ext cx="8143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工具使用</a:t>
            </a:r>
            <a:endParaRPr lang="en-US" sz="11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744" y="1500188"/>
            <a:ext cx="100013" cy="480027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353194" y="1500188"/>
            <a:ext cx="21907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OpenAI Codex：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辅助代码逻辑分析、BIO 路径调试及脚本生成。</a:t>
            </a:r>
            <a:endParaRPr lang="en-US" sz="8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1744" y="2087370"/>
            <a:ext cx="100013" cy="320018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353194" y="2087370"/>
            <a:ext cx="19431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通义千问：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用于技术文档的语言润色与术语规范。</a:t>
            </a:r>
            <a:endParaRPr lang="en-US" sz="8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1744" y="2514544"/>
            <a:ext cx="100013" cy="32001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353194" y="2514544"/>
            <a:ext cx="197703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豆包：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辅助答辩 PPT 逻辑优化与演讲稿准备。</a:t>
            </a:r>
            <a:endParaRPr lang="en-US" sz="800" dirty="0"/>
          </a:p>
        </p:txBody>
      </p:sp>
      <p:sp>
        <p:nvSpPr>
          <p:cNvPr id="33" name="Shape 17"/>
          <p:cNvSpPr/>
          <p:nvPr/>
        </p:nvSpPr>
        <p:spPr>
          <a:xfrm>
            <a:off x="457200" y="4548783"/>
            <a:ext cx="8229600" cy="2803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18"/>
          <p:cNvSpPr/>
          <p:nvPr/>
        </p:nvSpPr>
        <p:spPr>
          <a:xfrm>
            <a:off x="457200" y="4548783"/>
            <a:ext cx="82296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19"/>
          <p:cNvSpPr/>
          <p:nvPr/>
        </p:nvSpPr>
        <p:spPr>
          <a:xfrm>
            <a:off x="457200" y="4548783"/>
            <a:ext cx="8229600" cy="28039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郑重声明：本项目所有 AI 生成内容均经过团队成员的人工严格审查、逻辑验证与代码测试，确保真实有效。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 提交记录与迭代 / GIT COMMITS &amp; ITERATION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21481" y="942975"/>
            <a:ext cx="85725" cy="8572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2"/>
          <p:cNvSpPr/>
          <p:nvPr/>
        </p:nvSpPr>
        <p:spPr>
          <a:xfrm>
            <a:off x="614363" y="942975"/>
            <a:ext cx="302038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06-23 10:00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14363" y="1117997"/>
            <a:ext cx="30203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commit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14363" y="1328738"/>
            <a:ext cx="302038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建立基础框架，包含 44 个核心文件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21481" y="1616273"/>
            <a:ext cx="85725" cy="8572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614363" y="1616273"/>
            <a:ext cx="302038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06-23 22:36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1791295"/>
            <a:ext cx="30203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compatible Device Mapper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4363" y="2002036"/>
            <a:ext cx="302038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实现核心算法，确保磁盘布局 100% 兼容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21481" y="2289572"/>
            <a:ext cx="85725" cy="8572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0"/>
          <p:cNvSpPr/>
          <p:nvPr/>
        </p:nvSpPr>
        <p:spPr>
          <a:xfrm>
            <a:off x="614363" y="2289572"/>
            <a:ext cx="302038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06-24 01:33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4363" y="2464594"/>
            <a:ext cx="30203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Protected rootfs integration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4363" y="2675334"/>
            <a:ext cx="302038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完成星绽内核集成，支持加密根文件系统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1481" y="2962870"/>
            <a:ext cx="85725" cy="8572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4363" y="2962870"/>
            <a:ext cx="302038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06-24 01:48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4363" y="3137892"/>
            <a:ext cx="30203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 &amp; AI Statement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4363" y="3348633"/>
            <a:ext cx="302038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完善中英文文档，披露 AI 工具使用情况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20496" y="942975"/>
            <a:ext cx="4794879" cy="3028950"/>
          </a:xfrm>
          <a:prstGeom prst="rect">
            <a:avLst/>
          </a:prstGeom>
          <a:solidFill>
            <a:srgbClr val="001A33"/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321" y="1977926"/>
            <a:ext cx="428625" cy="4286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3705" y="2549426"/>
            <a:ext cx="1719858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[GitLab 提交历史截图占位]
</a:t>
            </a: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展示完整的开发轨迹与代码评审记录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920496" y="4086225"/>
            <a:ext cx="4766304" cy="871538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dash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371" y="4225528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177671" y="4204097"/>
            <a:ext cx="7161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工程质量保证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063371" y="4430911"/>
            <a:ext cx="448055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迭代清晰：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基础架构 → 内核集成 → 文档合规
•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测试驱动：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包含大量单元测试与集成测试用例
• </a:t>
            </a:r>
            <a:r>
              <a:rPr lang="en-US" sz="8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规范开发：</a:t>
            </a:r>
            <a:r>
              <a:rPr lang="en-US" sz="8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严格遵循 Rust 编码规范与 No-Std 约束</a:t>
            </a:r>
            <a:endParaRPr lang="en-US" sz="8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7A25333-800B-34F2-2491-854C77CAB8A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981" y="1234440"/>
            <a:ext cx="4656535" cy="2561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658225" cy="4143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总结与展望 / SUMMARY &amp; OUTLOOK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2810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8" y="1014413"/>
            <a:ext cx="12001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已完成核心工作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457200" y="1419820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1555552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5819" y="1526977"/>
            <a:ext cx="34504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双目标架构：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实现用户态与内核态共享核心逻辑，代码复用率极高。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457200" y="1994167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129898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5819" y="2101323"/>
            <a:ext cx="34504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功能闭环：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完整实现 dm-verity 校验与 dm-crypt 透明加解密。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457200" y="2568513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2704244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35819" y="2675669"/>
            <a:ext cx="34504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内核集成：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成功支持星绽 OS 加密根文件系统启动与全路径保护。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457200" y="3142859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278591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5819" y="3250016"/>
            <a:ext cx="34504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测试体系：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建立多层次测试验证体系，确保与 Linux 逐字节兼容。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052810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957763" y="1014413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未来工作展望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4714875" y="1419820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1555552"/>
            <a:ext cx="96441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61347" y="1526977"/>
            <a:ext cx="34825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接口完善：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支持完整的 cryptsetup ioctl 接口，提升生态兼容性。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4714875" y="1994167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2129898"/>
            <a:ext cx="128588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3494" y="2101323"/>
            <a:ext cx="34504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性能矩阵：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构建完整的 fio 性能测试矩阵，覆盖更多复杂 I/O 场景。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4714875" y="2568513"/>
            <a:ext cx="3971925" cy="48147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2704244"/>
            <a:ext cx="144661" cy="1285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09567" y="2675669"/>
            <a:ext cx="343435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算法扩展：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引入更多高性能哈希与加密算法，优化 LRU 缓存策略。</a:t>
            </a:r>
            <a:endParaRPr lang="en-US" sz="900" dirty="0"/>
          </a:p>
        </p:txBody>
      </p:sp>
      <p:sp>
        <p:nvSpPr>
          <p:cNvPr id="29" name="Shape 17"/>
          <p:cNvSpPr/>
          <p:nvPr/>
        </p:nvSpPr>
        <p:spPr>
          <a:xfrm>
            <a:off x="28575" y="4471988"/>
            <a:ext cx="9086850" cy="3571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18"/>
          <p:cNvSpPr/>
          <p:nvPr/>
        </p:nvSpPr>
        <p:spPr>
          <a:xfrm>
            <a:off x="28575" y="4471988"/>
            <a:ext cx="9086850" cy="7144"/>
          </a:xfrm>
          <a:prstGeom prst="rect">
            <a:avLst/>
          </a:prstGeom>
          <a:solidFill>
            <a:srgbClr val="CCFAFF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6943" y="4663083"/>
            <a:ext cx="160734" cy="1428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2847677" y="4634508"/>
            <a:ext cx="360938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致力于为星绽操作系统构建坚实、高效、安全的存储底座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292" y="537204"/>
            <a:ext cx="1339453" cy="10715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54" y="3534733"/>
            <a:ext cx="937617" cy="10715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629025" y="1175147"/>
            <a:ext cx="188595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500" kern="0" spc="2" dirty="0" err="1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感谢</a:t>
            </a:r>
            <a:r>
              <a:rPr lang="zh-CN" altLang="en-US" sz="3500" kern="0" spc="2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观看</a:t>
            </a:r>
            <a:endParaRPr lang="en-US" sz="3500" dirty="0"/>
          </a:p>
        </p:txBody>
      </p:sp>
      <p:sp>
        <p:nvSpPr>
          <p:cNvPr id="6" name="Shape 1"/>
          <p:cNvSpPr/>
          <p:nvPr/>
        </p:nvSpPr>
        <p:spPr>
          <a:xfrm>
            <a:off x="3429000" y="2123480"/>
            <a:ext cx="2286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3429000" y="2123480"/>
            <a:ext cx="2286000" cy="1428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8" name="Text 3"/>
          <p:cNvSpPr/>
          <p:nvPr/>
        </p:nvSpPr>
        <p:spPr>
          <a:xfrm>
            <a:off x="3429000" y="2123480"/>
            <a:ext cx="2286000" cy="48756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请各位专家批评指正！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3725466" y="3175397"/>
            <a:ext cx="16930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参赛队伍：Go_Go_Go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43375" y="349508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华南师范大学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736181" y="3773686"/>
            <a:ext cx="16716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成员：张乐桁、陈韵、潘利源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1262</Words>
  <Application>Microsoft Office PowerPoint</Application>
  <PresentationFormat>全屏显示(16:9)</PresentationFormat>
  <Paragraphs>294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monospace</vt:lpstr>
      <vt:lpstr>Arial</vt:lpstr>
      <vt:lpstr>Fira Code</vt:lpstr>
      <vt:lpstr>Montserrat Bold</vt:lpstr>
      <vt:lpstr>Open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yun Chen</cp:lastModifiedBy>
  <cp:revision>4</cp:revision>
  <dcterms:created xsi:type="dcterms:W3CDTF">2026-06-25T08:07:37Z</dcterms:created>
  <dcterms:modified xsi:type="dcterms:W3CDTF">2026-06-25T08:19:11Z</dcterms:modified>
</cp:coreProperties>
</file>